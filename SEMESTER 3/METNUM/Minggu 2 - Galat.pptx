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0"/>
  </p:notesMasterIdLst>
  <p:sldIdLst>
    <p:sldId id="256" r:id="rId2"/>
    <p:sldId id="261" r:id="rId3"/>
    <p:sldId id="287" r:id="rId4"/>
    <p:sldId id="288" r:id="rId5"/>
    <p:sldId id="293" r:id="rId6"/>
    <p:sldId id="290" r:id="rId7"/>
    <p:sldId id="291" r:id="rId8"/>
    <p:sldId id="289" r:id="rId9"/>
  </p:sldIdLst>
  <p:sldSz cx="9144000" cy="5143500" type="screen16x9"/>
  <p:notesSz cx="6858000" cy="9144000"/>
  <p:embeddedFontLst>
    <p:embeddedFont>
      <p:font typeface="Arial Unicode MS" panose="020B0604020202020204" pitchFamily="34" charset="-128"/>
      <p:regular r:id="rId11"/>
    </p:embeddedFont>
    <p:embeddedFont>
      <p:font typeface="Bebas Neue" panose="020B0606020202050201" pitchFamily="34" charset="77"/>
      <p:regular r:id="rId12"/>
    </p:embeddedFont>
    <p:embeddedFont>
      <p:font typeface="Nunito" pitchFamily="2" charset="77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Poppins Medium" pitchFamily="2" charset="77"/>
      <p:regular r:id="rId21"/>
      <p:bold r:id="rId22"/>
      <p:italic r:id="rId23"/>
      <p:boldItalic r:id="rId24"/>
    </p:embeddedFont>
    <p:embeddedFont>
      <p:font typeface="Poppins SemiBold" pitchFamily="2" charset="77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E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9AAF82-3A3A-497B-877C-BAE1DB2A5769}">
  <a:tblStyle styleId="{E39AAF82-3A3A-497B-877C-BAE1DB2A57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8"/>
    <p:restoredTop sz="84735"/>
  </p:normalViewPr>
  <p:slideViewPr>
    <p:cSldViewPr snapToGrid="0">
      <p:cViewPr varScale="1">
        <p:scale>
          <a:sx n="118" d="100"/>
          <a:sy n="118" d="100"/>
        </p:scale>
        <p:origin x="144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880bcb85c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880bcb85c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a0eaa150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a0eaa150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D" b="0" i="1" u="none" strike="noStrike" dirty="0">
                <a:solidFill>
                  <a:schemeClr val="tx1"/>
                </a:solidFill>
                <a:effectLst/>
                <a:latin typeface="Nunito" pitchFamily="2" charset="77"/>
              </a:rPr>
              <a:t>Absolute error is the absolute difference between the measured value and the true value.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D" b="0" i="1" u="none" strike="noStrike" dirty="0">
              <a:solidFill>
                <a:schemeClr val="tx1"/>
              </a:solidFill>
              <a:effectLst/>
              <a:latin typeface="Nunit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D" b="0" i="1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Relative Error is the ratio of the Absolute Error to the true or exact value.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D" b="0" i="1" u="none" strike="noStrike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D" b="0" i="1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Percentage Error is the ratio of the Absolute Error to the true value multiplied by 100, it can also be defined as Relative Error multiplied by 100.</a:t>
            </a:r>
            <a:endParaRPr lang="en-ID" b="0" i="1" u="none" strike="noStrike" dirty="0">
              <a:solidFill>
                <a:schemeClr val="tx1"/>
              </a:solidFill>
              <a:effectLst/>
              <a:latin typeface="Nunit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D" b="0" i="1" u="none" strike="noStrike" dirty="0">
              <a:solidFill>
                <a:schemeClr val="tx1"/>
              </a:solidFill>
              <a:effectLst/>
              <a:latin typeface="Nunito" pitchFamily="2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fontAlgn="base"/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Calculation of Absolute Error</a:t>
            </a:r>
          </a:p>
          <a:p>
            <a:pPr algn="l" fontAlgn="base">
              <a:buFont typeface="+mj-lt"/>
              <a:buAutoNum type="arabicPeriod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Identify the True Value: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Determine the exact value of the quantity. This might be a known constant, a value from a theoretical model, or the most accurate measurement available.</a:t>
            </a:r>
          </a:p>
          <a:p>
            <a:pPr algn="l" fontAlgn="base">
              <a:buFont typeface="+mj-lt"/>
              <a:buAutoNum type="arabicPeriod" startAt="2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Identify the Approximate Value: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Determine the approximate or measured value. This could be a value obtained through experimentation, estimation, or numerical approximation.</a:t>
            </a:r>
          </a:p>
          <a:p>
            <a:pPr algn="l" fontAlgn="base">
              <a:buFont typeface="+mj-lt"/>
              <a:buAutoNum type="arabicPeriod" startAt="3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Subtract the Approximate Value from the True Value: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Find the difference between the true value and the approximate value.</a:t>
            </a:r>
          </a:p>
          <a:p>
            <a:pPr algn="l" fontAlgn="base">
              <a:buFont typeface="+mj-lt"/>
              <a:buAutoNum type="arabicPeriod" startAt="4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Take the Absolute Value: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Ensure the error is expressed as a non-negative quantity by taking the absolute value of the difference.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  <a:p>
            <a:pPr algn="l" fontAlgn="base"/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Calculation of Relative Error</a:t>
            </a:r>
          </a:p>
          <a:p>
            <a:pPr algn="l" fontAlgn="base">
              <a:buFont typeface="+mj-lt"/>
              <a:buAutoNum type="arabicPeriod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Determine the Absolute Error: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Calculate the absolute error using the formula.</a:t>
            </a:r>
          </a:p>
          <a:p>
            <a:pPr algn="l" fontAlgn="base">
              <a:buFont typeface="+mj-lt"/>
              <a:buAutoNum type="arabicPeriod" startAt="2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Divide by the True Value: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Divide the absolute error by the true value to obtain the relative error.</a:t>
            </a:r>
          </a:p>
          <a:p>
            <a:pPr algn="l" fontAlgn="base">
              <a:buFont typeface="+mj-lt"/>
              <a:buAutoNum type="arabicPeriod" startAt="3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Express as a Fraction or Percentage: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The result can be left as a fraction or multiplied by 100 to express it as a percentage.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  <a:p>
            <a:pPr algn="l" fontAlgn="base"/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Calculation of Percentage Error</a:t>
            </a:r>
          </a:p>
          <a:p>
            <a:pPr algn="l" fontAlgn="base">
              <a:buFont typeface="+mj-lt"/>
              <a:buAutoNum type="arabicPeriod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Determine the Absolute Error: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Calculate the absolute error using the formula.</a:t>
            </a:r>
          </a:p>
          <a:p>
            <a:pPr algn="l" fontAlgn="base">
              <a:buFont typeface="+mj-lt"/>
              <a:buAutoNum type="arabicPeriod" startAt="2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Divide by the True Value: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Divide the absolute error by the true value to obtain the relative error.</a:t>
            </a:r>
          </a:p>
          <a:p>
            <a:pPr algn="l" fontAlgn="base">
              <a:buFont typeface="+mj-lt"/>
              <a:buAutoNum type="arabicPeriod" startAt="3"/>
            </a:pPr>
            <a:r>
              <a:rPr lang="en-ID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Multiply by 100: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 Convert the relative error to a percentage by multiplying the result by 100.</a:t>
            </a:r>
          </a:p>
        </p:txBody>
      </p:sp>
    </p:spTree>
    <p:extLst>
      <p:ext uri="{BB962C8B-B14F-4D97-AF65-F5344CB8AC3E}">
        <p14:creationId xmlns:p14="http://schemas.microsoft.com/office/powerpoint/2010/main" val="4226303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9363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3348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5282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2713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a0eaa150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a0eaa150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27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295550" y="2437150"/>
            <a:ext cx="631500" cy="721150"/>
            <a:chOff x="6533825" y="4313425"/>
            <a:chExt cx="631500" cy="721150"/>
          </a:xfrm>
        </p:grpSpPr>
        <p:sp>
          <p:nvSpPr>
            <p:cNvPr id="10" name="Google Shape;10;p2"/>
            <p:cNvSpPr/>
            <p:nvPr/>
          </p:nvSpPr>
          <p:spPr>
            <a:xfrm>
              <a:off x="6965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965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965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965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965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21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821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21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21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821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09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109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109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109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109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677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677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677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77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677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533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3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533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33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533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36" name="Google Shape;36;p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flipH="1">
            <a:off x="2244842" y="4599425"/>
            <a:ext cx="4489475" cy="193775"/>
            <a:chOff x="1784500" y="1867350"/>
            <a:chExt cx="4489475" cy="193775"/>
          </a:xfrm>
        </p:grpSpPr>
        <p:sp>
          <p:nvSpPr>
            <p:cNvPr id="49" name="Google Shape;49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2328517" y="345725"/>
            <a:ext cx="4489475" cy="193775"/>
            <a:chOff x="1784500" y="1867350"/>
            <a:chExt cx="4489475" cy="193775"/>
          </a:xfrm>
        </p:grpSpPr>
        <p:sp>
          <p:nvSpPr>
            <p:cNvPr id="53" name="Google Shape;53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2"/>
          <p:cNvSpPr txBox="1">
            <a:spLocks noGrp="1"/>
          </p:cNvSpPr>
          <p:nvPr>
            <p:ph type="ctrTitle"/>
          </p:nvPr>
        </p:nvSpPr>
        <p:spPr>
          <a:xfrm>
            <a:off x="1986225" y="1251900"/>
            <a:ext cx="5174100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subTitle" idx="1"/>
          </p:nvPr>
        </p:nvSpPr>
        <p:spPr>
          <a:xfrm>
            <a:off x="1986214" y="3423425"/>
            <a:ext cx="51741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"/>
          <p:cNvGrpSpPr/>
          <p:nvPr/>
        </p:nvGrpSpPr>
        <p:grpSpPr>
          <a:xfrm flipH="1">
            <a:off x="7919517" y="3983460"/>
            <a:ext cx="1895833" cy="1895866"/>
            <a:chOff x="3835450" y="-252000"/>
            <a:chExt cx="1445325" cy="1445350"/>
          </a:xfrm>
        </p:grpSpPr>
        <p:sp>
          <p:nvSpPr>
            <p:cNvPr id="142" name="Google Shape;142;p5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5"/>
          <p:cNvGrpSpPr/>
          <p:nvPr/>
        </p:nvGrpSpPr>
        <p:grpSpPr>
          <a:xfrm flipH="1">
            <a:off x="-1513236" y="3983450"/>
            <a:ext cx="3382300" cy="1993950"/>
            <a:chOff x="1317925" y="2802775"/>
            <a:chExt cx="3382300" cy="1993950"/>
          </a:xfrm>
        </p:grpSpPr>
        <p:sp>
          <p:nvSpPr>
            <p:cNvPr id="148" name="Google Shape;148;p5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-1021739" y="0"/>
            <a:ext cx="1734954" cy="1734954"/>
            <a:chOff x="6340050" y="754850"/>
            <a:chExt cx="1595800" cy="1595800"/>
          </a:xfrm>
        </p:grpSpPr>
        <p:sp>
          <p:nvSpPr>
            <p:cNvPr id="161" name="Google Shape;161;p5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 flipH="1">
            <a:off x="7855963" y="-320208"/>
            <a:ext cx="1604419" cy="1604360"/>
            <a:chOff x="-74975" y="157600"/>
            <a:chExt cx="1604419" cy="1604360"/>
          </a:xfrm>
        </p:grpSpPr>
        <p:sp>
          <p:nvSpPr>
            <p:cNvPr id="165" name="Google Shape;165;p5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5"/>
          <p:cNvSpPr txBox="1">
            <a:spLocks noGrp="1"/>
          </p:cNvSpPr>
          <p:nvPr>
            <p:ph type="subTitle" idx="1"/>
          </p:nvPr>
        </p:nvSpPr>
        <p:spPr>
          <a:xfrm>
            <a:off x="11409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2"/>
          </p:nvPr>
        </p:nvSpPr>
        <p:spPr>
          <a:xfrm>
            <a:off x="47463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" name="Google Shape;749;p26"/>
          <p:cNvGrpSpPr/>
          <p:nvPr/>
        </p:nvGrpSpPr>
        <p:grpSpPr>
          <a:xfrm rot="10800000">
            <a:off x="-1421297" y="-502690"/>
            <a:ext cx="3382300" cy="1993950"/>
            <a:chOff x="1317925" y="2802775"/>
            <a:chExt cx="3382300" cy="1993950"/>
          </a:xfrm>
        </p:grpSpPr>
        <p:sp>
          <p:nvSpPr>
            <p:cNvPr id="750" name="Google Shape;750;p26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" name="Google Shape;762;p26"/>
          <p:cNvGrpSpPr/>
          <p:nvPr/>
        </p:nvGrpSpPr>
        <p:grpSpPr>
          <a:xfrm>
            <a:off x="3176813" y="4566944"/>
            <a:ext cx="2790375" cy="64975"/>
            <a:chOff x="5954300" y="4334988"/>
            <a:chExt cx="2790375" cy="64975"/>
          </a:xfrm>
        </p:grpSpPr>
        <p:sp>
          <p:nvSpPr>
            <p:cNvPr id="763" name="Google Shape;763;p26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6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" name="Google Shape;783;p26"/>
          <p:cNvGrpSpPr/>
          <p:nvPr/>
        </p:nvGrpSpPr>
        <p:grpSpPr>
          <a:xfrm>
            <a:off x="8482509" y="2257015"/>
            <a:ext cx="1359460" cy="1359460"/>
            <a:chOff x="3901550" y="2223725"/>
            <a:chExt cx="1557050" cy="1557050"/>
          </a:xfrm>
        </p:grpSpPr>
        <p:sp>
          <p:nvSpPr>
            <p:cNvPr id="784" name="Google Shape;784;p26"/>
            <p:cNvSpPr/>
            <p:nvPr/>
          </p:nvSpPr>
          <p:spPr>
            <a:xfrm>
              <a:off x="4212350" y="2535275"/>
              <a:ext cx="934700" cy="933925"/>
            </a:xfrm>
            <a:custGeom>
              <a:avLst/>
              <a:gdLst/>
              <a:ahLst/>
              <a:cxnLst/>
              <a:rect l="l" t="t" r="r" b="b"/>
              <a:pathLst>
                <a:path w="37388" h="37357" extrusionOk="0">
                  <a:moveTo>
                    <a:pt x="18694" y="1"/>
                  </a:moveTo>
                  <a:cubicBezTo>
                    <a:pt x="8390" y="1"/>
                    <a:pt x="1" y="8360"/>
                    <a:pt x="1" y="18664"/>
                  </a:cubicBezTo>
                  <a:cubicBezTo>
                    <a:pt x="1" y="28998"/>
                    <a:pt x="8390" y="37357"/>
                    <a:pt x="18694" y="37357"/>
                  </a:cubicBezTo>
                  <a:cubicBezTo>
                    <a:pt x="29028" y="37357"/>
                    <a:pt x="37387" y="28998"/>
                    <a:pt x="37387" y="18664"/>
                  </a:cubicBezTo>
                  <a:cubicBezTo>
                    <a:pt x="37387" y="8360"/>
                    <a:pt x="29028" y="1"/>
                    <a:pt x="186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4385600" y="2707775"/>
              <a:ext cx="588950" cy="588950"/>
            </a:xfrm>
            <a:custGeom>
              <a:avLst/>
              <a:gdLst/>
              <a:ahLst/>
              <a:cxnLst/>
              <a:rect l="l" t="t" r="r" b="b"/>
              <a:pathLst>
                <a:path w="23558" h="23558" fill="none" extrusionOk="0">
                  <a:moveTo>
                    <a:pt x="23557" y="11764"/>
                  </a:moveTo>
                  <a:cubicBezTo>
                    <a:pt x="23557" y="18268"/>
                    <a:pt x="18269" y="23557"/>
                    <a:pt x="11764" y="23557"/>
                  </a:cubicBezTo>
                  <a:cubicBezTo>
                    <a:pt x="5259" y="23557"/>
                    <a:pt x="1" y="18268"/>
                    <a:pt x="1" y="11764"/>
                  </a:cubicBezTo>
                  <a:cubicBezTo>
                    <a:pt x="1" y="5259"/>
                    <a:pt x="5259" y="1"/>
                    <a:pt x="11764" y="1"/>
                  </a:cubicBezTo>
                  <a:cubicBezTo>
                    <a:pt x="18269" y="1"/>
                    <a:pt x="23557" y="5259"/>
                    <a:pt x="23557" y="11764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4596100" y="2919025"/>
              <a:ext cx="167200" cy="166450"/>
            </a:xfrm>
            <a:custGeom>
              <a:avLst/>
              <a:gdLst/>
              <a:ahLst/>
              <a:cxnLst/>
              <a:rect l="l" t="t" r="r" b="b"/>
              <a:pathLst>
                <a:path w="6688" h="6658" extrusionOk="0">
                  <a:moveTo>
                    <a:pt x="3344" y="1"/>
                  </a:moveTo>
                  <a:cubicBezTo>
                    <a:pt x="1520" y="1"/>
                    <a:pt x="0" y="1490"/>
                    <a:pt x="0" y="3314"/>
                  </a:cubicBezTo>
                  <a:cubicBezTo>
                    <a:pt x="0" y="5168"/>
                    <a:pt x="1520" y="6657"/>
                    <a:pt x="3344" y="6657"/>
                  </a:cubicBezTo>
                  <a:cubicBezTo>
                    <a:pt x="5198" y="6657"/>
                    <a:pt x="6687" y="5168"/>
                    <a:pt x="6687" y="3314"/>
                  </a:cubicBezTo>
                  <a:cubicBezTo>
                    <a:pt x="6687" y="1490"/>
                    <a:pt x="5198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4496550" y="2819475"/>
              <a:ext cx="366300" cy="365525"/>
            </a:xfrm>
            <a:custGeom>
              <a:avLst/>
              <a:gdLst/>
              <a:ahLst/>
              <a:cxnLst/>
              <a:rect l="l" t="t" r="r" b="b"/>
              <a:pathLst>
                <a:path w="14652" h="14621" fill="none" extrusionOk="0">
                  <a:moveTo>
                    <a:pt x="14651" y="7296"/>
                  </a:moveTo>
                  <a:cubicBezTo>
                    <a:pt x="14651" y="11338"/>
                    <a:pt x="11369" y="14621"/>
                    <a:pt x="7326" y="14621"/>
                  </a:cubicBezTo>
                  <a:cubicBezTo>
                    <a:pt x="3283" y="14621"/>
                    <a:pt x="1" y="11338"/>
                    <a:pt x="1" y="7296"/>
                  </a:cubicBezTo>
                  <a:cubicBezTo>
                    <a:pt x="1" y="3283"/>
                    <a:pt x="3283" y="1"/>
                    <a:pt x="7326" y="1"/>
                  </a:cubicBezTo>
                  <a:cubicBezTo>
                    <a:pt x="11369" y="1"/>
                    <a:pt x="14651" y="3283"/>
                    <a:pt x="14651" y="7296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3901550" y="2223725"/>
              <a:ext cx="1557050" cy="1557050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9" name="Google Shape;789;p26"/>
          <p:cNvSpPr txBox="1">
            <a:spLocks noGrp="1"/>
          </p:cNvSpPr>
          <p:nvPr>
            <p:ph type="subTitle" idx="1"/>
          </p:nvPr>
        </p:nvSpPr>
        <p:spPr>
          <a:xfrm>
            <a:off x="1104984" y="2143345"/>
            <a:ext cx="204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0" name="Google Shape;790;p26"/>
          <p:cNvSpPr txBox="1">
            <a:spLocks noGrp="1"/>
          </p:cNvSpPr>
          <p:nvPr>
            <p:ph type="subTitle" idx="2"/>
          </p:nvPr>
        </p:nvSpPr>
        <p:spPr>
          <a:xfrm>
            <a:off x="3550650" y="2143345"/>
            <a:ext cx="204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26"/>
          <p:cNvSpPr txBox="1">
            <a:spLocks noGrp="1"/>
          </p:cNvSpPr>
          <p:nvPr>
            <p:ph type="subTitle" idx="3"/>
          </p:nvPr>
        </p:nvSpPr>
        <p:spPr>
          <a:xfrm>
            <a:off x="5996325" y="2143345"/>
            <a:ext cx="2038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26"/>
          <p:cNvSpPr txBox="1">
            <a:spLocks noGrp="1"/>
          </p:cNvSpPr>
          <p:nvPr>
            <p:ph type="subTitle" idx="4"/>
          </p:nvPr>
        </p:nvSpPr>
        <p:spPr>
          <a:xfrm>
            <a:off x="1104984" y="3445997"/>
            <a:ext cx="204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26"/>
          <p:cNvSpPr txBox="1">
            <a:spLocks noGrp="1"/>
          </p:cNvSpPr>
          <p:nvPr>
            <p:ph type="subTitle" idx="5"/>
          </p:nvPr>
        </p:nvSpPr>
        <p:spPr>
          <a:xfrm>
            <a:off x="3550650" y="3445997"/>
            <a:ext cx="204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26"/>
          <p:cNvSpPr txBox="1">
            <a:spLocks noGrp="1"/>
          </p:cNvSpPr>
          <p:nvPr>
            <p:ph type="subTitle" idx="6"/>
          </p:nvPr>
        </p:nvSpPr>
        <p:spPr>
          <a:xfrm>
            <a:off x="5996325" y="3445997"/>
            <a:ext cx="2038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26"/>
          <p:cNvSpPr txBox="1">
            <a:spLocks noGrp="1"/>
          </p:cNvSpPr>
          <p:nvPr>
            <p:ph type="subTitle" idx="7"/>
          </p:nvPr>
        </p:nvSpPr>
        <p:spPr>
          <a:xfrm>
            <a:off x="1100700" y="1789600"/>
            <a:ext cx="20427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6" name="Google Shape;796;p26"/>
          <p:cNvSpPr txBox="1">
            <a:spLocks noGrp="1"/>
          </p:cNvSpPr>
          <p:nvPr>
            <p:ph type="subTitle" idx="8"/>
          </p:nvPr>
        </p:nvSpPr>
        <p:spPr>
          <a:xfrm>
            <a:off x="3550650" y="1789600"/>
            <a:ext cx="20427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7" name="Google Shape;797;p26"/>
          <p:cNvSpPr txBox="1">
            <a:spLocks noGrp="1"/>
          </p:cNvSpPr>
          <p:nvPr>
            <p:ph type="subTitle" idx="9"/>
          </p:nvPr>
        </p:nvSpPr>
        <p:spPr>
          <a:xfrm>
            <a:off x="6000600" y="1789600"/>
            <a:ext cx="20385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8" name="Google Shape;798;p26"/>
          <p:cNvSpPr txBox="1">
            <a:spLocks noGrp="1"/>
          </p:cNvSpPr>
          <p:nvPr>
            <p:ph type="subTitle" idx="13"/>
          </p:nvPr>
        </p:nvSpPr>
        <p:spPr>
          <a:xfrm>
            <a:off x="1100700" y="3087750"/>
            <a:ext cx="20427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9" name="Google Shape;799;p26"/>
          <p:cNvSpPr txBox="1">
            <a:spLocks noGrp="1"/>
          </p:cNvSpPr>
          <p:nvPr>
            <p:ph type="subTitle" idx="14"/>
          </p:nvPr>
        </p:nvSpPr>
        <p:spPr>
          <a:xfrm>
            <a:off x="3550650" y="3087750"/>
            <a:ext cx="20427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0" name="Google Shape;800;p26"/>
          <p:cNvSpPr txBox="1">
            <a:spLocks noGrp="1"/>
          </p:cNvSpPr>
          <p:nvPr>
            <p:ph type="subTitle" idx="15"/>
          </p:nvPr>
        </p:nvSpPr>
        <p:spPr>
          <a:xfrm>
            <a:off x="6000600" y="3087750"/>
            <a:ext cx="20385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1" name="Google Shape;801;p26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41"/>
          <p:cNvGrpSpPr/>
          <p:nvPr/>
        </p:nvGrpSpPr>
        <p:grpSpPr>
          <a:xfrm>
            <a:off x="8430750" y="1225934"/>
            <a:ext cx="2691676" cy="2691631"/>
            <a:chOff x="5165750" y="-1146341"/>
            <a:chExt cx="2691676" cy="2691631"/>
          </a:xfrm>
        </p:grpSpPr>
        <p:sp>
          <p:nvSpPr>
            <p:cNvPr id="1195" name="Google Shape;1195;p41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1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1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1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1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4" name="Google Shape;1204;p41"/>
          <p:cNvGrpSpPr/>
          <p:nvPr/>
        </p:nvGrpSpPr>
        <p:grpSpPr>
          <a:xfrm>
            <a:off x="713225" y="4828856"/>
            <a:ext cx="2790375" cy="64975"/>
            <a:chOff x="5954300" y="4334988"/>
            <a:chExt cx="2790375" cy="64975"/>
          </a:xfrm>
        </p:grpSpPr>
        <p:sp>
          <p:nvSpPr>
            <p:cNvPr id="1205" name="Google Shape;1205;p41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1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1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1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1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1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1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1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1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1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1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1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41"/>
          <p:cNvGrpSpPr/>
          <p:nvPr/>
        </p:nvGrpSpPr>
        <p:grpSpPr>
          <a:xfrm>
            <a:off x="-319052" y="-320208"/>
            <a:ext cx="1604419" cy="1604360"/>
            <a:chOff x="-74975" y="157600"/>
            <a:chExt cx="1604419" cy="1604360"/>
          </a:xfrm>
        </p:grpSpPr>
        <p:sp>
          <p:nvSpPr>
            <p:cNvPr id="1226" name="Google Shape;1226;p41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1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1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1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1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1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1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6" name="Google Shape;1236;p4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1237" name="Google Shape;1237;p4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42"/>
          <p:cNvGrpSpPr/>
          <p:nvPr/>
        </p:nvGrpSpPr>
        <p:grpSpPr>
          <a:xfrm flipH="1">
            <a:off x="2244842" y="345725"/>
            <a:ext cx="4489475" cy="193775"/>
            <a:chOff x="1784500" y="1867350"/>
            <a:chExt cx="4489475" cy="193775"/>
          </a:xfrm>
        </p:grpSpPr>
        <p:sp>
          <p:nvSpPr>
            <p:cNvPr id="1250" name="Google Shape;1250;p4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42"/>
          <p:cNvSpPr/>
          <p:nvPr/>
        </p:nvSpPr>
        <p:spPr>
          <a:xfrm>
            <a:off x="4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308450"/>
            <a:ext cx="7717500" cy="3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72" r:id="rId4"/>
    <p:sldLayoutId id="2147483687" r:id="rId5"/>
    <p:sldLayoutId id="214748368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F0000"/>
          </p15:clr>
        </p15:guide>
        <p15:guide id="2" pos="2880">
          <p15:clr>
            <a:srgbClr val="FF0000"/>
          </p15:clr>
        </p15:guide>
        <p15:guide id="3" pos="449">
          <p15:clr>
            <a:srgbClr val="FF0000"/>
          </p15:clr>
        </p15:guide>
        <p15:guide id="4" pos="5311">
          <p15:clr>
            <a:srgbClr val="FF0000"/>
          </p15:clr>
        </p15:guide>
        <p15:guide id="5" orient="horz" pos="340">
          <p15:clr>
            <a:srgbClr val="FF0000"/>
          </p15:clr>
        </p15:guide>
        <p15:guide id="6" orient="horz" pos="2897">
          <p15:clr>
            <a:srgbClr val="FF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6"/>
          <p:cNvSpPr txBox="1">
            <a:spLocks noGrp="1"/>
          </p:cNvSpPr>
          <p:nvPr>
            <p:ph type="ctrTitle"/>
          </p:nvPr>
        </p:nvSpPr>
        <p:spPr>
          <a:xfrm>
            <a:off x="1986225" y="1251900"/>
            <a:ext cx="5174100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Galat</a:t>
            </a:r>
            <a:r>
              <a:rPr lang="en" dirty="0"/>
              <a:t> pada </a:t>
            </a:r>
            <a:r>
              <a:rPr lang="en" dirty="0" err="1"/>
              <a:t>Metode</a:t>
            </a:r>
            <a:r>
              <a:rPr lang="en" dirty="0"/>
              <a:t> </a:t>
            </a:r>
            <a:r>
              <a:rPr lang="en" dirty="0" err="1"/>
              <a:t>Numerik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265" name="Google Shape;1265;p46"/>
          <p:cNvSpPr txBox="1">
            <a:spLocks noGrp="1"/>
          </p:cNvSpPr>
          <p:nvPr>
            <p:ph type="subTitle" idx="1"/>
          </p:nvPr>
        </p:nvSpPr>
        <p:spPr>
          <a:xfrm>
            <a:off x="1986213" y="3423425"/>
            <a:ext cx="5640743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Dosen</a:t>
            </a:r>
            <a:r>
              <a:rPr lang="en" dirty="0"/>
              <a:t> </a:t>
            </a:r>
            <a:r>
              <a:rPr lang="en" dirty="0" err="1"/>
              <a:t>Pengampu</a:t>
            </a:r>
            <a:r>
              <a:rPr lang="en" dirty="0"/>
              <a:t>: </a:t>
            </a:r>
            <a:r>
              <a:rPr lang="en" dirty="0" err="1"/>
              <a:t>Adevian</a:t>
            </a:r>
            <a:r>
              <a:rPr lang="en" dirty="0"/>
              <a:t> Fairuz </a:t>
            </a:r>
            <a:r>
              <a:rPr lang="en" dirty="0" err="1"/>
              <a:t>Pratama</a:t>
            </a:r>
            <a:r>
              <a:rPr lang="en" dirty="0"/>
              <a:t>, S.S.T., </a:t>
            </a:r>
            <a:r>
              <a:rPr lang="en" dirty="0" err="1"/>
              <a:t>M.Eng</a:t>
            </a:r>
            <a:endParaRPr lang="en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Program </a:t>
            </a:r>
            <a:r>
              <a:rPr lang="en" dirty="0" err="1"/>
              <a:t>Studi</a:t>
            </a:r>
            <a:r>
              <a:rPr lang="en" dirty="0"/>
              <a:t>: Teknik </a:t>
            </a:r>
            <a:r>
              <a:rPr lang="en" dirty="0" err="1"/>
              <a:t>Informatika</a:t>
            </a:r>
            <a:r>
              <a:rPr lang="en" dirty="0"/>
              <a:t> 2025/2026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72" name="Google Shape;1272;p46"/>
          <p:cNvGrpSpPr/>
          <p:nvPr/>
        </p:nvGrpSpPr>
        <p:grpSpPr>
          <a:xfrm>
            <a:off x="7626957" y="-966877"/>
            <a:ext cx="2471175" cy="2747975"/>
            <a:chOff x="7398357" y="-662077"/>
            <a:chExt cx="2471175" cy="2747975"/>
          </a:xfrm>
        </p:grpSpPr>
        <p:sp>
          <p:nvSpPr>
            <p:cNvPr id="1273" name="Google Shape;1273;p46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6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6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6"/>
          <p:cNvGrpSpPr/>
          <p:nvPr/>
        </p:nvGrpSpPr>
        <p:grpSpPr>
          <a:xfrm>
            <a:off x="-1466486" y="2736279"/>
            <a:ext cx="2791286" cy="2599651"/>
            <a:chOff x="-1466486" y="2736279"/>
            <a:chExt cx="2791286" cy="2599651"/>
          </a:xfrm>
        </p:grpSpPr>
        <p:sp>
          <p:nvSpPr>
            <p:cNvPr id="1279" name="Google Shape;1279;p46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0" name="Google Shape;1280;p46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281" name="Google Shape;1281;p46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6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Freeform 28">
            <a:extLst>
              <a:ext uri="{FF2B5EF4-FFF2-40B4-BE49-F238E27FC236}">
                <a16:creationId xmlns:a16="http://schemas.microsoft.com/office/drawing/2014/main" id="{E180CCE9-B2C9-8722-F48A-C56221C4401E}"/>
              </a:ext>
            </a:extLst>
          </p:cNvPr>
          <p:cNvSpPr/>
          <p:nvPr/>
        </p:nvSpPr>
        <p:spPr>
          <a:xfrm>
            <a:off x="565386" y="144432"/>
            <a:ext cx="825038" cy="870698"/>
          </a:xfrm>
          <a:custGeom>
            <a:avLst/>
            <a:gdLst/>
            <a:ahLst/>
            <a:cxnLst/>
            <a:rect l="l" t="t" r="r" b="b"/>
            <a:pathLst>
              <a:path w="1186060" h="1207910">
                <a:moveTo>
                  <a:pt x="0" y="0"/>
                </a:moveTo>
                <a:lnTo>
                  <a:pt x="1186060" y="0"/>
                </a:lnTo>
                <a:lnTo>
                  <a:pt x="1186060" y="1207910"/>
                </a:lnTo>
                <a:lnTo>
                  <a:pt x="0" y="1207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472" r="-17317"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96257-3F65-D270-FA5D-086EE7456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044" y="219135"/>
            <a:ext cx="652242" cy="6881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1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en-US" dirty="0" err="1"/>
              <a:t>Galat</a:t>
            </a:r>
            <a:endParaRPr dirty="0"/>
          </a:p>
        </p:txBody>
      </p:sp>
      <p:sp>
        <p:nvSpPr>
          <p:cNvPr id="1352" name="Google Shape;1352;p51"/>
          <p:cNvSpPr txBox="1">
            <a:spLocks noGrp="1"/>
          </p:cNvSpPr>
          <p:nvPr>
            <p:ph type="subTitle" idx="1"/>
          </p:nvPr>
        </p:nvSpPr>
        <p:spPr>
          <a:xfrm>
            <a:off x="772886" y="1480457"/>
            <a:ext cx="3624814" cy="3222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SzPts val="1100"/>
              <a:buFont typeface="Arial" panose="020B0604020202020204" pitchFamily="34" charset="0"/>
              <a:buChar char="•"/>
            </a:pP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b="1" dirty="0" err="1"/>
              <a:t>nilai</a:t>
            </a:r>
            <a:r>
              <a:rPr lang="en-ID" b="1" dirty="0"/>
              <a:t> </a:t>
            </a:r>
            <a:r>
              <a:rPr lang="en-ID" b="1" dirty="0" err="1"/>
              <a:t>sebenarnya</a:t>
            </a:r>
            <a:r>
              <a:rPr lang="en-ID" b="1" dirty="0"/>
              <a:t> (XT)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kuantitas</a:t>
            </a:r>
            <a:r>
              <a:rPr lang="en-ID" dirty="0"/>
              <a:t> dan </a:t>
            </a:r>
            <a:r>
              <a:rPr lang="en-ID" b="1" dirty="0" err="1"/>
              <a:t>nilai</a:t>
            </a:r>
            <a:r>
              <a:rPr lang="en-ID" b="1" dirty="0"/>
              <a:t> </a:t>
            </a:r>
            <a:r>
              <a:rPr lang="en-ID" b="1" dirty="0" err="1"/>
              <a:t>perkiraan</a:t>
            </a:r>
            <a:r>
              <a:rPr lang="en-ID" b="1" dirty="0"/>
              <a:t> (XA) </a:t>
            </a:r>
            <a:r>
              <a:rPr lang="en-ID" dirty="0"/>
              <a:t>yang </a:t>
            </a:r>
            <a:r>
              <a:rPr lang="en-ID" dirty="0" err="1"/>
              <a:t>dihitung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diperoleh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pengukuran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b="1" dirty="0" err="1">
                <a:solidFill>
                  <a:srgbClr val="FF0000"/>
                </a:solidFill>
              </a:rPr>
              <a:t>Kesalahan</a:t>
            </a:r>
            <a:r>
              <a:rPr lang="en-ID" dirty="0"/>
              <a:t>.</a:t>
            </a:r>
          </a:p>
          <a:p>
            <a:pPr marL="285750" lvl="0" indent="-285750">
              <a:buSzPts val="1100"/>
              <a:buFont typeface="Arial" panose="020B0604020202020204" pitchFamily="34" charset="0"/>
              <a:buChar char="•"/>
            </a:pPr>
            <a:r>
              <a:rPr lang="en-ID" dirty="0"/>
              <a:t>Jadi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b="1" dirty="0"/>
              <a:t>XT</a:t>
            </a:r>
            <a:r>
              <a:rPr lang="en-ID" dirty="0"/>
              <a:t> dan </a:t>
            </a:r>
            <a:r>
              <a:rPr lang="en-ID" b="1" dirty="0"/>
              <a:t>XA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 dan </a:t>
            </a:r>
            <a:r>
              <a:rPr lang="en-ID" dirty="0" err="1"/>
              <a:t>perkiraan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memecahkan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kuantitas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Xa</a:t>
            </a:r>
            <a:r>
              <a:rPr lang="en-ID" dirty="0"/>
              <a:t>.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absolut</a:t>
            </a:r>
            <a:r>
              <a:rPr lang="en-ID" dirty="0"/>
              <a:t> </a:t>
            </a:r>
            <a:r>
              <a:rPr lang="en-ID" b="1" dirty="0" err="1"/>
              <a:t>Ea</a:t>
            </a:r>
            <a:r>
              <a:rPr lang="en-ID" dirty="0"/>
              <a:t> yang </a:t>
            </a:r>
            <a:r>
              <a:rPr lang="en-ID" dirty="0" err="1"/>
              <a:t>terlibat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x </a:t>
            </a:r>
            <a:r>
              <a:rPr lang="en-ID" dirty="0" err="1"/>
              <a:t>diberikan</a:t>
            </a:r>
            <a:r>
              <a:rPr lang="en-ID" dirty="0"/>
              <a:t> oleh </a:t>
            </a:r>
            <a:r>
              <a:rPr lang="en-ID" b="1" dirty="0" err="1"/>
              <a:t>Ea</a:t>
            </a:r>
            <a:r>
              <a:rPr lang="en-ID" b="1" dirty="0"/>
              <a:t> = XT - XA.</a:t>
            </a:r>
          </a:p>
        </p:txBody>
      </p:sp>
      <p:sp>
        <p:nvSpPr>
          <p:cNvPr id="1353" name="Google Shape;1353;p51"/>
          <p:cNvSpPr txBox="1">
            <a:spLocks noGrp="1"/>
          </p:cNvSpPr>
          <p:nvPr>
            <p:ph type="subTitle" idx="2"/>
          </p:nvPr>
        </p:nvSpPr>
        <p:spPr>
          <a:xfrm>
            <a:off x="4746300" y="1476606"/>
            <a:ext cx="3256800" cy="24201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absolute error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relative error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dirty="0"/>
              <a:t>The </a:t>
            </a:r>
            <a:r>
              <a:rPr lang="en-ID" dirty="0">
                <a:solidFill>
                  <a:srgbClr val="FF0000"/>
                </a:solidFill>
              </a:rPr>
              <a:t>percentage error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3C91B-0D1B-34D3-58A4-50225D3BE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868" y="2560666"/>
            <a:ext cx="2602396" cy="514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BFFDD6-267A-F427-AF41-570D9D33B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868" y="3616544"/>
            <a:ext cx="3766930" cy="4607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114848-B640-B94F-87B2-BE41E6305F3B}"/>
              </a:ext>
            </a:extLst>
          </p:cNvPr>
          <p:cNvSpPr txBox="1"/>
          <p:nvPr/>
        </p:nvSpPr>
        <p:spPr>
          <a:xfrm>
            <a:off x="5114868" y="1864748"/>
            <a:ext cx="1218199" cy="307777"/>
          </a:xfrm>
          <a:prstGeom prst="rect">
            <a:avLst/>
          </a:prstGeom>
          <a:solidFill>
            <a:srgbClr val="E3DED2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Ea</a:t>
            </a:r>
            <a:r>
              <a:rPr lang="en-US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= XT-XA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Absolute and Relative Errors</a:t>
            </a:r>
            <a:endParaRPr dirty="0"/>
          </a:p>
        </p:txBody>
      </p:sp>
      <p:sp>
        <p:nvSpPr>
          <p:cNvPr id="1439" name="Google Shape;1439;p56"/>
          <p:cNvSpPr txBox="1">
            <a:spLocks noGrp="1"/>
          </p:cNvSpPr>
          <p:nvPr>
            <p:ph type="subTitle" idx="1"/>
          </p:nvPr>
        </p:nvSpPr>
        <p:spPr>
          <a:xfrm>
            <a:off x="776748" y="1398379"/>
            <a:ext cx="7590503" cy="28257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>
                <a:effectLst/>
                <a:latin typeface=""/>
              </a:rPr>
              <a:t>﻿</a:t>
            </a:r>
            <a:r>
              <a:rPr lang="en-ID" dirty="0" err="1">
                <a:latin typeface=""/>
              </a:rPr>
              <a:t>Sebagai</a:t>
            </a:r>
            <a:r>
              <a:rPr lang="en-ID" dirty="0">
                <a:latin typeface=""/>
              </a:rPr>
              <a:t> </a:t>
            </a:r>
            <a:r>
              <a:rPr lang="en-ID" dirty="0" err="1">
                <a:latin typeface=""/>
              </a:rPr>
              <a:t>ilustrasi</a:t>
            </a:r>
            <a:r>
              <a:rPr lang="en-ID" dirty="0">
                <a:latin typeface=""/>
              </a:rPr>
              <a:t>, </a:t>
            </a:r>
            <a:r>
              <a:rPr lang="en-ID" dirty="0" err="1">
                <a:latin typeface=""/>
              </a:rPr>
              <a:t>misalkan</a:t>
            </a:r>
            <a:r>
              <a:rPr lang="en-ID" dirty="0">
                <a:latin typeface=""/>
              </a:rPr>
              <a:t> </a:t>
            </a:r>
            <a:r>
              <a:rPr lang="en-ID" dirty="0" err="1">
                <a:latin typeface=""/>
              </a:rPr>
              <a:t>angka</a:t>
            </a:r>
            <a:r>
              <a:rPr lang="en-ID" dirty="0">
                <a:latin typeface=""/>
              </a:rPr>
              <a:t> 4.6285 </a:t>
            </a:r>
            <a:r>
              <a:rPr lang="en-ID" dirty="0" err="1">
                <a:latin typeface=""/>
              </a:rPr>
              <a:t>dibulatkan</a:t>
            </a:r>
            <a:r>
              <a:rPr lang="en-ID" dirty="0">
                <a:latin typeface=""/>
              </a:rPr>
              <a:t> </a:t>
            </a:r>
            <a:r>
              <a:rPr lang="en-ID" dirty="0" err="1">
                <a:latin typeface=""/>
              </a:rPr>
              <a:t>menjadi</a:t>
            </a:r>
            <a:r>
              <a:rPr lang="en-ID" dirty="0">
                <a:latin typeface=""/>
              </a:rPr>
              <a:t> 4.628 yang </a:t>
            </a:r>
            <a:r>
              <a:rPr lang="en-ID" dirty="0" err="1">
                <a:latin typeface=""/>
              </a:rPr>
              <a:t>benar</a:t>
            </a:r>
            <a:r>
              <a:rPr lang="en-ID" dirty="0">
                <a:latin typeface=""/>
              </a:rPr>
              <a:t> </a:t>
            </a:r>
            <a:r>
              <a:rPr lang="en-ID" dirty="0" err="1">
                <a:latin typeface=""/>
              </a:rPr>
              <a:t>menjadi</a:t>
            </a:r>
            <a:r>
              <a:rPr lang="en-ID" dirty="0">
                <a:latin typeface=""/>
              </a:rPr>
              <a:t> </a:t>
            </a:r>
            <a:r>
              <a:rPr lang="en-ID" dirty="0" err="1">
                <a:latin typeface=""/>
              </a:rPr>
              <a:t>empat</a:t>
            </a:r>
            <a:r>
              <a:rPr lang="en-ID" dirty="0">
                <a:latin typeface=""/>
              </a:rPr>
              <a:t> </a:t>
            </a:r>
            <a:r>
              <a:rPr lang="en-ID" dirty="0" err="1">
                <a:latin typeface=""/>
              </a:rPr>
              <a:t>angka</a:t>
            </a:r>
            <a:r>
              <a:rPr lang="en-ID" dirty="0">
                <a:latin typeface=""/>
              </a:rPr>
              <a:t> </a:t>
            </a:r>
            <a:r>
              <a:rPr lang="en-ID" dirty="0" err="1">
                <a:latin typeface=""/>
              </a:rPr>
              <a:t>penting</a:t>
            </a:r>
            <a:r>
              <a:rPr lang="en-ID" dirty="0">
                <a:latin typeface=""/>
              </a:rPr>
              <a:t>. Lalu </a:t>
            </a:r>
            <a:r>
              <a:rPr lang="en-ID" dirty="0" err="1">
                <a:latin typeface=""/>
              </a:rPr>
              <a:t>kita</a:t>
            </a:r>
            <a:r>
              <a:rPr lang="en-ID" dirty="0">
                <a:latin typeface=""/>
              </a:rPr>
              <a:t> </a:t>
            </a:r>
            <a:r>
              <a:rPr lang="en-ID" dirty="0" err="1">
                <a:latin typeface=""/>
              </a:rPr>
              <a:t>memiliki</a:t>
            </a:r>
            <a:r>
              <a:rPr lang="en-ID" dirty="0">
                <a:latin typeface=""/>
              </a:rPr>
              <a:t>:	</a:t>
            </a:r>
          </a:p>
          <a:p>
            <a:pPr marL="1054100" lvl="2" indent="0" algn="l">
              <a:lnSpc>
                <a:spcPct val="150000"/>
              </a:lnSpc>
            </a:pPr>
            <a:r>
              <a:rPr lang="en-ID" b="1" dirty="0">
                <a:effectLst/>
                <a:latin typeface=""/>
              </a:rPr>
              <a:t>		XT</a:t>
            </a:r>
            <a:r>
              <a:rPr lang="en-ID" dirty="0">
                <a:effectLst/>
                <a:latin typeface=""/>
              </a:rPr>
              <a:t>= 4.6285, </a:t>
            </a:r>
            <a:r>
              <a:rPr lang="en-ID" b="1" dirty="0">
                <a:effectLst/>
                <a:latin typeface=""/>
              </a:rPr>
              <a:t>XA </a:t>
            </a:r>
            <a:r>
              <a:rPr lang="en-ID" dirty="0">
                <a:effectLst/>
                <a:latin typeface=""/>
              </a:rPr>
              <a:t>= 4.628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FF0000"/>
                </a:solidFill>
                <a:effectLst/>
                <a:latin typeface=""/>
              </a:rPr>
              <a:t>Absolute error</a:t>
            </a:r>
            <a:r>
              <a:rPr lang="en-ID" dirty="0">
                <a:effectLst/>
                <a:latin typeface=""/>
              </a:rPr>
              <a:t>: </a:t>
            </a:r>
            <a:r>
              <a:rPr lang="en-ID" b="1" dirty="0" err="1">
                <a:effectLst/>
                <a:latin typeface=""/>
              </a:rPr>
              <a:t>Ea</a:t>
            </a:r>
            <a:r>
              <a:rPr lang="en-ID" dirty="0">
                <a:effectLst/>
                <a:latin typeface=""/>
              </a:rPr>
              <a:t>= | 4.6285 - 4.628 | = 0.0005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>
                <a:effectLst/>
                <a:latin typeface=""/>
              </a:rPr>
              <a:t>﻿</a:t>
            </a:r>
            <a:r>
              <a:rPr lang="en-ID" dirty="0">
                <a:solidFill>
                  <a:srgbClr val="FF0000"/>
                </a:solidFill>
                <a:latin typeface=""/>
              </a:rPr>
              <a:t>R</a:t>
            </a:r>
            <a:r>
              <a:rPr lang="en-ID" dirty="0">
                <a:solidFill>
                  <a:srgbClr val="FF0000"/>
                </a:solidFill>
                <a:effectLst/>
                <a:latin typeface=""/>
              </a:rPr>
              <a:t>elative error </a:t>
            </a:r>
            <a:r>
              <a:rPr lang="en-ID" dirty="0">
                <a:effectLst/>
                <a:latin typeface=""/>
              </a:rPr>
              <a:t>is given by: </a:t>
            </a:r>
            <a:r>
              <a:rPr lang="en-ID" b="1" dirty="0">
                <a:effectLst/>
                <a:latin typeface=""/>
              </a:rPr>
              <a:t>Er </a:t>
            </a:r>
            <a:r>
              <a:rPr lang="en-ID" dirty="0">
                <a:effectLst/>
                <a:latin typeface=""/>
              </a:rPr>
              <a:t>= 0.0005 / 4.6285 = 10804 × 10</a:t>
            </a:r>
            <a:r>
              <a:rPr lang="en-ID" baseline="30000" dirty="0">
                <a:effectLst/>
                <a:latin typeface=""/>
              </a:rPr>
              <a:t>-4</a:t>
            </a:r>
            <a:endParaRPr lang="en-ID" dirty="0">
              <a:effectLst/>
              <a:latin typeface="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>
                <a:effectLst/>
                <a:latin typeface=""/>
              </a:rPr>
              <a:t>﻿</a:t>
            </a:r>
            <a:r>
              <a:rPr lang="en-ID" dirty="0">
                <a:solidFill>
                  <a:srgbClr val="FF0000"/>
                </a:solidFill>
                <a:latin typeface=""/>
              </a:rPr>
              <a:t>P</a:t>
            </a:r>
            <a:r>
              <a:rPr lang="en-ID" dirty="0">
                <a:solidFill>
                  <a:srgbClr val="FF0000"/>
                </a:solidFill>
                <a:effectLst/>
                <a:latin typeface=""/>
              </a:rPr>
              <a:t>ercentage error </a:t>
            </a:r>
            <a:r>
              <a:rPr lang="en-ID" dirty="0">
                <a:effectLst/>
                <a:latin typeface=""/>
              </a:rPr>
              <a:t>is: </a:t>
            </a:r>
            <a:r>
              <a:rPr lang="en-ID" b="1" dirty="0">
                <a:effectLst/>
                <a:latin typeface=""/>
              </a:rPr>
              <a:t>Ep </a:t>
            </a:r>
            <a:r>
              <a:rPr lang="en-ID" dirty="0">
                <a:effectLst/>
                <a:latin typeface=""/>
              </a:rPr>
              <a:t>= 10804 × 10</a:t>
            </a:r>
            <a:r>
              <a:rPr lang="en-ID" baseline="30000" dirty="0">
                <a:effectLst/>
                <a:latin typeface=""/>
              </a:rPr>
              <a:t>-4</a:t>
            </a:r>
            <a:r>
              <a:rPr lang="en-ID" dirty="0">
                <a:effectLst/>
                <a:latin typeface=""/>
              </a:rPr>
              <a:t> x 100= 1.0804 x 10</a:t>
            </a:r>
            <a:r>
              <a:rPr lang="en-ID" baseline="30000" dirty="0">
                <a:effectLst/>
                <a:latin typeface=""/>
              </a:rPr>
              <a:t>-2</a:t>
            </a:r>
            <a:endParaRPr lang="en-ID" dirty="0">
              <a:effectLst/>
              <a:latin typeface=""/>
            </a:endParaRPr>
          </a:p>
          <a:p>
            <a:pPr algn="l"/>
            <a:endParaRPr lang="en-ID" dirty="0">
              <a:latin typeface=""/>
            </a:endParaRPr>
          </a:p>
          <a:p>
            <a:pPr algn="l"/>
            <a:endParaRPr lang="en-ID" dirty="0">
              <a:effectLst/>
              <a:latin typeface="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D" dirty="0">
              <a:effectLst/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000424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347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Truncation Error (</a:t>
            </a:r>
            <a:r>
              <a:rPr lang="en" dirty="0" err="1"/>
              <a:t>Pemotongan</a:t>
            </a:r>
            <a:r>
              <a:rPr lang="en" dirty="0"/>
              <a:t>)</a:t>
            </a:r>
            <a:endParaRPr dirty="0"/>
          </a:p>
        </p:txBody>
      </p:sp>
      <p:sp>
        <p:nvSpPr>
          <p:cNvPr id="1439" name="Google Shape;1439;p56"/>
          <p:cNvSpPr txBox="1">
            <a:spLocks noGrp="1"/>
          </p:cNvSpPr>
          <p:nvPr>
            <p:ph type="subTitle" idx="1"/>
          </p:nvPr>
        </p:nvSpPr>
        <p:spPr>
          <a:xfrm>
            <a:off x="672402" y="898299"/>
            <a:ext cx="7681376" cy="3461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D" sz="1400" b="1" dirty="0" err="1">
                <a:solidFill>
                  <a:srgbClr val="002060"/>
                </a:solidFill>
              </a:rPr>
              <a:t>Definisi</a:t>
            </a:r>
            <a:r>
              <a:rPr lang="en-ID" sz="1400" b="1" dirty="0">
                <a:solidFill>
                  <a:srgbClr val="002060"/>
                </a:solidFill>
              </a:rPr>
              <a:t>:</a:t>
            </a:r>
            <a:r>
              <a:rPr lang="en-ID" sz="1400" dirty="0">
                <a:solidFill>
                  <a:srgbClr val="002060"/>
                </a:solidFill>
              </a:rPr>
              <a:t> </a:t>
            </a:r>
            <a:r>
              <a:rPr lang="en-ID" sz="1400" dirty="0" err="1">
                <a:solidFill>
                  <a:srgbClr val="002060"/>
                </a:solidFill>
              </a:rPr>
              <a:t>Menghentikan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angka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desimal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setelah</a:t>
            </a:r>
            <a:r>
              <a:rPr lang="en-ID" sz="1400" dirty="0">
                <a:solidFill>
                  <a:srgbClr val="002060"/>
                </a:solidFill>
              </a:rPr>
              <a:t> digit </a:t>
            </a:r>
            <a:r>
              <a:rPr lang="en-ID" sz="1400" dirty="0" err="1">
                <a:solidFill>
                  <a:srgbClr val="002060"/>
                </a:solidFill>
              </a:rPr>
              <a:t>tertentu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tanpa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melihat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angka</a:t>
            </a:r>
            <a:r>
              <a:rPr lang="en-ID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berikutnya</a:t>
            </a:r>
            <a:r>
              <a:rPr lang="en-ID" sz="1400" dirty="0">
                <a:solidFill>
                  <a:srgbClr val="002060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D" sz="1400" b="1" dirty="0">
                <a:solidFill>
                  <a:srgbClr val="002060"/>
                </a:solidFill>
              </a:rPr>
              <a:t>Sifat:</a:t>
            </a:r>
            <a:r>
              <a:rPr lang="en-ID" sz="1400" dirty="0">
                <a:solidFill>
                  <a:srgbClr val="002060"/>
                </a:solidFill>
              </a:rPr>
              <a:t> </a:t>
            </a:r>
            <a:r>
              <a:rPr lang="en-ID" sz="1400" dirty="0" err="1">
                <a:solidFill>
                  <a:srgbClr val="002060"/>
                </a:solidFill>
              </a:rPr>
              <a:t>Tidak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peduli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apakah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angka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berikutnya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besar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atau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kecil</a:t>
            </a:r>
            <a:r>
              <a:rPr lang="en-ID" sz="1400" dirty="0">
                <a:solidFill>
                  <a:srgbClr val="002060"/>
                </a:solidFill>
              </a:rPr>
              <a:t>, </a:t>
            </a:r>
            <a:r>
              <a:rPr lang="en-ID" sz="1400" dirty="0" err="1">
                <a:solidFill>
                  <a:srgbClr val="002060"/>
                </a:solidFill>
              </a:rPr>
              <a:t>langsung</a:t>
            </a:r>
            <a:r>
              <a:rPr lang="en-ID" sz="1400" dirty="0">
                <a:solidFill>
                  <a:srgbClr val="002060"/>
                </a:solidFill>
              </a:rPr>
              <a:t> </a:t>
            </a:r>
            <a:r>
              <a:rPr lang="en-ID" sz="1400" dirty="0" err="1">
                <a:solidFill>
                  <a:srgbClr val="002060"/>
                </a:solidFill>
              </a:rPr>
              <a:t>dibuang</a:t>
            </a:r>
            <a:r>
              <a:rPr lang="en-ID" sz="1400" dirty="0">
                <a:solidFill>
                  <a:srgbClr val="002060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D" sz="1400" b="1" dirty="0" err="1">
                <a:solidFill>
                  <a:srgbClr val="002060"/>
                </a:solidFill>
              </a:rPr>
              <a:t>Kelebihan</a:t>
            </a:r>
            <a:r>
              <a:rPr lang="en-ID" sz="1400" b="1" dirty="0">
                <a:solidFill>
                  <a:srgbClr val="002060"/>
                </a:solidFill>
              </a:rPr>
              <a:t>: </a:t>
            </a:r>
            <a:r>
              <a:rPr lang="en-ID" sz="1400" dirty="0">
                <a:solidFill>
                  <a:srgbClr val="002060"/>
                </a:solidFill>
              </a:rPr>
              <a:t>Proses</a:t>
            </a:r>
            <a:r>
              <a:rPr lang="en-ID" sz="1400" b="1" dirty="0">
                <a:solidFill>
                  <a:srgbClr val="002060"/>
                </a:solidFill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lebih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cepat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,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tapi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bisa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menimbulkan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error yang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lebih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besar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karena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tidak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memperhatikan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kedekatan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nilai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sebenarnya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.</a:t>
            </a:r>
            <a:endParaRPr lang="en-ID" sz="1400" b="1" dirty="0">
              <a:solidFill>
                <a:srgbClr val="002060"/>
              </a:solidFill>
              <a:latin typeface="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D" sz="1400" b="1" dirty="0" err="1">
                <a:solidFill>
                  <a:srgbClr val="002060"/>
                </a:solidFill>
              </a:rPr>
              <a:t>Contoh</a:t>
            </a:r>
            <a:r>
              <a:rPr lang="en-ID" sz="1400" b="1" dirty="0">
                <a:solidFill>
                  <a:srgbClr val="002060"/>
                </a:solidFill>
              </a:rPr>
              <a:t>:</a:t>
            </a:r>
            <a:endParaRPr lang="en-ID" sz="1400" dirty="0">
              <a:solidFill>
                <a:srgbClr val="002060"/>
              </a:solidFill>
            </a:endParaRP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002060"/>
                </a:solidFill>
              </a:rPr>
              <a:t>3,6789 </a:t>
            </a:r>
            <a:r>
              <a:rPr lang="en-ID" dirty="0" err="1">
                <a:solidFill>
                  <a:srgbClr val="002060"/>
                </a:solidFill>
              </a:rPr>
              <a:t>hanya</a:t>
            </a:r>
            <a:r>
              <a:rPr lang="en-ID" dirty="0">
                <a:solidFill>
                  <a:srgbClr val="002060"/>
                </a:solidFill>
              </a:rPr>
              <a:t> </a:t>
            </a:r>
            <a:r>
              <a:rPr lang="en-ID" dirty="0" err="1">
                <a:solidFill>
                  <a:srgbClr val="002060"/>
                </a:solidFill>
              </a:rPr>
              <a:t>dibutuhkan</a:t>
            </a:r>
            <a:r>
              <a:rPr lang="en-ID" dirty="0">
                <a:solidFill>
                  <a:srgbClr val="002060"/>
                </a:solidFill>
              </a:rPr>
              <a:t> 3 Angka </a:t>
            </a:r>
            <a:r>
              <a:rPr lang="en-ID" dirty="0" err="1">
                <a:solidFill>
                  <a:srgbClr val="002060"/>
                </a:solidFill>
              </a:rPr>
              <a:t>Penting</a:t>
            </a:r>
            <a:r>
              <a:rPr lang="en-ID" dirty="0">
                <a:solidFill>
                  <a:srgbClr val="002060"/>
                </a:solidFill>
              </a:rPr>
              <a:t> / AP →  3,67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002060"/>
                </a:solidFill>
              </a:rPr>
              <a:t>5,999 </a:t>
            </a:r>
            <a:r>
              <a:rPr lang="en-ID" dirty="0" err="1">
                <a:solidFill>
                  <a:srgbClr val="002060"/>
                </a:solidFill>
              </a:rPr>
              <a:t>hanya</a:t>
            </a:r>
            <a:r>
              <a:rPr lang="en-ID" dirty="0">
                <a:solidFill>
                  <a:srgbClr val="002060"/>
                </a:solidFill>
              </a:rPr>
              <a:t> </a:t>
            </a:r>
            <a:r>
              <a:rPr lang="en-ID" dirty="0" err="1">
                <a:solidFill>
                  <a:srgbClr val="002060"/>
                </a:solidFill>
              </a:rPr>
              <a:t>dibutuhkan</a:t>
            </a:r>
            <a:r>
              <a:rPr lang="en-ID" dirty="0">
                <a:solidFill>
                  <a:srgbClr val="002060"/>
                </a:solidFill>
              </a:rPr>
              <a:t> 3 AP → 5,99 (</a:t>
            </a:r>
            <a:r>
              <a:rPr lang="en-ID" dirty="0" err="1">
                <a:solidFill>
                  <a:srgbClr val="002060"/>
                </a:solidFill>
              </a:rPr>
              <a:t>meski</a:t>
            </a:r>
            <a:r>
              <a:rPr lang="en-ID" dirty="0">
                <a:solidFill>
                  <a:srgbClr val="002060"/>
                </a:solidFill>
              </a:rPr>
              <a:t> </a:t>
            </a:r>
            <a:r>
              <a:rPr lang="en-ID" dirty="0" err="1">
                <a:solidFill>
                  <a:srgbClr val="002060"/>
                </a:solidFill>
              </a:rPr>
              <a:t>seharusnya</a:t>
            </a:r>
            <a:r>
              <a:rPr lang="en-ID" dirty="0">
                <a:solidFill>
                  <a:srgbClr val="002060"/>
                </a:solidFill>
              </a:rPr>
              <a:t> </a:t>
            </a:r>
            <a:r>
              <a:rPr lang="en-ID" dirty="0" err="1">
                <a:solidFill>
                  <a:srgbClr val="002060"/>
                </a:solidFill>
              </a:rPr>
              <a:t>mendekati</a:t>
            </a:r>
            <a:r>
              <a:rPr lang="en-ID" dirty="0">
                <a:solidFill>
                  <a:srgbClr val="002060"/>
                </a:solidFill>
              </a:rPr>
              <a:t> 6).</a:t>
            </a:r>
          </a:p>
        </p:txBody>
      </p:sp>
    </p:spTree>
    <p:extLst>
      <p:ext uri="{BB962C8B-B14F-4D97-AF65-F5344CB8AC3E}">
        <p14:creationId xmlns:p14="http://schemas.microsoft.com/office/powerpoint/2010/main" val="119642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347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Rounding Error (</a:t>
            </a:r>
            <a:r>
              <a:rPr lang="en" dirty="0" err="1"/>
              <a:t>Pembulatan</a:t>
            </a:r>
            <a:r>
              <a:rPr lang="en" dirty="0"/>
              <a:t>)</a:t>
            </a:r>
            <a:endParaRPr dirty="0"/>
          </a:p>
        </p:txBody>
      </p:sp>
      <p:sp>
        <p:nvSpPr>
          <p:cNvPr id="1439" name="Google Shape;1439;p56"/>
          <p:cNvSpPr txBox="1">
            <a:spLocks noGrp="1"/>
          </p:cNvSpPr>
          <p:nvPr>
            <p:ph type="subTitle" idx="1"/>
          </p:nvPr>
        </p:nvSpPr>
        <p:spPr>
          <a:xfrm>
            <a:off x="672402" y="898299"/>
            <a:ext cx="4115907" cy="3461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 pitchFamily="2" charset="2"/>
              <a:buChar char="v"/>
            </a:pPr>
            <a:r>
              <a:rPr lang="en-ID" sz="1400" b="1" dirty="0" err="1"/>
              <a:t>Definisi</a:t>
            </a:r>
            <a:r>
              <a:rPr lang="en-ID" sz="1400" b="1" dirty="0"/>
              <a:t>:</a:t>
            </a:r>
            <a:r>
              <a:rPr lang="en-ID" sz="1400" dirty="0"/>
              <a:t> </a:t>
            </a:r>
            <a:r>
              <a:rPr lang="en-ID" sz="1400" dirty="0" err="1"/>
              <a:t>Menentukan</a:t>
            </a:r>
            <a:r>
              <a:rPr lang="en-ID" sz="1400" dirty="0"/>
              <a:t> </a:t>
            </a:r>
            <a:r>
              <a:rPr lang="en-ID" sz="1400" dirty="0" err="1"/>
              <a:t>angka</a:t>
            </a:r>
            <a:r>
              <a:rPr lang="en-ID" sz="1400" dirty="0"/>
              <a:t> </a:t>
            </a:r>
            <a:r>
              <a:rPr lang="en-ID" sz="1400" dirty="0" err="1"/>
              <a:t>terakhir</a:t>
            </a:r>
            <a:r>
              <a:rPr lang="en-ID" sz="1400" dirty="0"/>
              <a:t> </a:t>
            </a:r>
            <a:r>
              <a:rPr lang="en-ID" sz="1400" dirty="0" err="1"/>
              <a:t>berdasarkan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digit </a:t>
            </a:r>
            <a:r>
              <a:rPr lang="en-ID" sz="1400" dirty="0" err="1"/>
              <a:t>berikutnya</a:t>
            </a:r>
            <a:r>
              <a:rPr lang="en-ID" sz="1400" dirty="0"/>
              <a:t>.</a:t>
            </a:r>
          </a:p>
          <a:p>
            <a:pPr algn="l">
              <a:buFont typeface="Wingdings" pitchFamily="2" charset="2"/>
              <a:buChar char="v"/>
            </a:pPr>
            <a:r>
              <a:rPr lang="en-ID" sz="1400" b="1" dirty="0"/>
              <a:t>Sifat:</a:t>
            </a:r>
            <a:r>
              <a:rPr lang="en-ID" sz="1400" dirty="0"/>
              <a:t> Jika digit </a:t>
            </a:r>
            <a:r>
              <a:rPr lang="en-ID" sz="1400" dirty="0" err="1"/>
              <a:t>berikut</a:t>
            </a:r>
            <a:r>
              <a:rPr lang="en-ID" sz="1400" dirty="0"/>
              <a:t> ≥ 5 → </a:t>
            </a:r>
            <a:r>
              <a:rPr lang="en-ID" sz="1400" dirty="0" err="1"/>
              <a:t>dinaikkan</a:t>
            </a:r>
            <a:r>
              <a:rPr lang="en-ID" sz="1400" dirty="0"/>
              <a:t>; </a:t>
            </a:r>
            <a:r>
              <a:rPr lang="en-ID" sz="1400" dirty="0" err="1"/>
              <a:t>jika</a:t>
            </a:r>
            <a:r>
              <a:rPr lang="en-ID" sz="1400" dirty="0"/>
              <a:t> &lt; 5 → </a:t>
            </a:r>
            <a:r>
              <a:rPr lang="en-ID" sz="1400" dirty="0" err="1"/>
              <a:t>dibiarkan</a:t>
            </a:r>
            <a:r>
              <a:rPr lang="en-ID" sz="1400" dirty="0"/>
              <a:t>.</a:t>
            </a:r>
          </a:p>
          <a:p>
            <a:pPr algn="l">
              <a:buFont typeface="Wingdings" pitchFamily="2" charset="2"/>
              <a:buChar char="v"/>
            </a:pPr>
            <a:r>
              <a:rPr lang="en-ID" b="1" dirty="0" err="1"/>
              <a:t>Kelebihan</a:t>
            </a:r>
            <a:r>
              <a:rPr lang="en-ID" b="1" dirty="0"/>
              <a:t>: </a:t>
            </a:r>
            <a:r>
              <a:rPr lang="en-ID" dirty="0" err="1">
                <a:solidFill>
                  <a:srgbClr val="002060"/>
                </a:solidFill>
                <a:latin typeface=""/>
              </a:rPr>
              <a:t>L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ebih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akurat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untuk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representasi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angka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,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karena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memperhatikan</a:t>
            </a:r>
            <a:r>
              <a:rPr lang="en-ID" b="0" i="0" u="none" strike="noStrike" dirty="0">
                <a:solidFill>
                  <a:srgbClr val="002060"/>
                </a:solidFill>
                <a:effectLst/>
                <a:latin typeface=""/>
              </a:rPr>
              <a:t> digit </a:t>
            </a:r>
            <a:r>
              <a:rPr lang="en-ID" b="0" i="0" u="none" strike="noStrike" dirty="0" err="1">
                <a:solidFill>
                  <a:srgbClr val="002060"/>
                </a:solidFill>
                <a:effectLst/>
                <a:latin typeface=""/>
              </a:rPr>
              <a:t>setelahnya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ID" b="1" dirty="0"/>
          </a:p>
          <a:p>
            <a:pPr algn="l">
              <a:buFont typeface="Wingdings" pitchFamily="2" charset="2"/>
              <a:buChar char="v"/>
            </a:pPr>
            <a:r>
              <a:rPr lang="en-ID" sz="1400" b="1" dirty="0" err="1"/>
              <a:t>Contoh</a:t>
            </a:r>
            <a:r>
              <a:rPr lang="en-ID" sz="1400" b="1" dirty="0"/>
              <a:t>:</a:t>
            </a:r>
            <a:endParaRPr lang="en-ID" sz="14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dirty="0"/>
              <a:t>3,6789 </a:t>
            </a:r>
            <a:r>
              <a:rPr lang="en-ID" dirty="0" err="1"/>
              <a:t>dibulatkan</a:t>
            </a:r>
            <a:r>
              <a:rPr lang="en-ID" dirty="0"/>
              <a:t> 2 </a:t>
            </a:r>
            <a:r>
              <a:rPr lang="en-ID" dirty="0" err="1"/>
              <a:t>angka</a:t>
            </a:r>
            <a:r>
              <a:rPr lang="en-ID" dirty="0"/>
              <a:t> di </a:t>
            </a:r>
            <a:r>
              <a:rPr lang="en-ID" dirty="0" err="1"/>
              <a:t>belakang</a:t>
            </a:r>
            <a:r>
              <a:rPr lang="en-ID" dirty="0"/>
              <a:t> </a:t>
            </a:r>
            <a:r>
              <a:rPr lang="en-ID" dirty="0" err="1"/>
              <a:t>koma</a:t>
            </a:r>
            <a:r>
              <a:rPr lang="en-ID" dirty="0"/>
              <a:t> → 3,68 (</a:t>
            </a:r>
            <a:r>
              <a:rPr lang="en-ID" dirty="0" err="1"/>
              <a:t>karena</a:t>
            </a:r>
            <a:r>
              <a:rPr lang="en-ID" dirty="0"/>
              <a:t> 8 ≥ 5).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dirty="0"/>
              <a:t>5,994 </a:t>
            </a:r>
            <a:r>
              <a:rPr lang="en-ID" dirty="0" err="1"/>
              <a:t>dibulatkan</a:t>
            </a:r>
            <a:r>
              <a:rPr lang="en-ID" dirty="0"/>
              <a:t> 2 </a:t>
            </a:r>
            <a:r>
              <a:rPr lang="en-ID" dirty="0" err="1"/>
              <a:t>angka</a:t>
            </a:r>
            <a:r>
              <a:rPr lang="en-ID" dirty="0"/>
              <a:t> di </a:t>
            </a:r>
            <a:r>
              <a:rPr lang="en-ID" dirty="0" err="1"/>
              <a:t>belakang</a:t>
            </a:r>
            <a:r>
              <a:rPr lang="en-ID" dirty="0"/>
              <a:t> </a:t>
            </a:r>
            <a:r>
              <a:rPr lang="en-ID" dirty="0" err="1"/>
              <a:t>koma</a:t>
            </a:r>
            <a:r>
              <a:rPr lang="en-ID" dirty="0"/>
              <a:t> → 5,99 (</a:t>
            </a:r>
            <a:r>
              <a:rPr lang="en-ID" dirty="0" err="1"/>
              <a:t>karena</a:t>
            </a:r>
            <a:r>
              <a:rPr lang="en-ID" dirty="0"/>
              <a:t> 4 &lt; 5).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dirty="0"/>
              <a:t>5,996 </a:t>
            </a:r>
            <a:r>
              <a:rPr lang="en-ID" dirty="0" err="1"/>
              <a:t>dibulatkan</a:t>
            </a:r>
            <a:r>
              <a:rPr lang="en-ID" dirty="0"/>
              <a:t> 2 </a:t>
            </a:r>
            <a:r>
              <a:rPr lang="en-ID" dirty="0" err="1"/>
              <a:t>angka</a:t>
            </a:r>
            <a:r>
              <a:rPr lang="en-ID" dirty="0"/>
              <a:t> di </a:t>
            </a:r>
            <a:r>
              <a:rPr lang="en-ID" dirty="0" err="1"/>
              <a:t>belakang</a:t>
            </a:r>
            <a:r>
              <a:rPr lang="en-ID" dirty="0"/>
              <a:t> </a:t>
            </a:r>
            <a:r>
              <a:rPr lang="en-ID" dirty="0" err="1"/>
              <a:t>koma</a:t>
            </a:r>
            <a:r>
              <a:rPr lang="en-ID" dirty="0"/>
              <a:t> → 6,00 (</a:t>
            </a:r>
            <a:r>
              <a:rPr lang="en-ID" dirty="0" err="1"/>
              <a:t>karena</a:t>
            </a:r>
            <a:r>
              <a:rPr lang="en-ID" dirty="0"/>
              <a:t> 6 ≥ 5).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2E2DF-3263-0847-2915-42B39C023AEF}"/>
              </a:ext>
            </a:extLst>
          </p:cNvPr>
          <p:cNvSpPr txBox="1"/>
          <p:nvPr/>
        </p:nvSpPr>
        <p:spPr>
          <a:xfrm>
            <a:off x="4931230" y="930955"/>
            <a:ext cx="3543301" cy="2551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"/>
              </a:rPr>
              <a:t>Misalnya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,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ketika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hasil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2.01536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dibulatkan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menjadi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5 AP,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maka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:</a:t>
            </a:r>
          </a:p>
          <a:p>
            <a:pPr marL="139700">
              <a:lnSpc>
                <a:spcPct val="150000"/>
              </a:lnSpc>
            </a:pPr>
            <a:r>
              <a:rPr lang="en-ID" sz="1200" b="1" dirty="0">
                <a:solidFill>
                  <a:schemeClr val="tx1"/>
                </a:solidFill>
                <a:effectLst/>
                <a:latin typeface=""/>
              </a:rPr>
              <a:t>	XT</a:t>
            </a:r>
            <a:r>
              <a:rPr lang="en-ID" sz="1200" dirty="0">
                <a:solidFill>
                  <a:schemeClr val="tx1"/>
                </a:solidFill>
                <a:effectLst/>
                <a:latin typeface=""/>
              </a:rPr>
              <a:t> = 2.01536</a:t>
            </a:r>
            <a:br>
              <a:rPr lang="en-ID" sz="1200" dirty="0">
                <a:solidFill>
                  <a:schemeClr val="tx1"/>
                </a:solidFill>
                <a:effectLst/>
                <a:latin typeface=""/>
              </a:rPr>
            </a:br>
            <a:r>
              <a:rPr lang="en-ID" sz="1200" dirty="0">
                <a:solidFill>
                  <a:schemeClr val="tx1"/>
                </a:solidFill>
                <a:effectLst/>
                <a:latin typeface=""/>
              </a:rPr>
              <a:t>	</a:t>
            </a:r>
            <a:r>
              <a:rPr lang="en-ID" sz="1200" b="1" dirty="0">
                <a:solidFill>
                  <a:schemeClr val="tx1"/>
                </a:solidFill>
                <a:effectLst/>
                <a:latin typeface=""/>
              </a:rPr>
              <a:t>XA</a:t>
            </a:r>
            <a:r>
              <a:rPr lang="en-ID" sz="1200" dirty="0">
                <a:solidFill>
                  <a:schemeClr val="tx1"/>
                </a:solidFill>
                <a:effectLst/>
                <a:latin typeface=""/>
              </a:rPr>
              <a:t> = 2.0154</a:t>
            </a:r>
          </a:p>
          <a:p>
            <a:pPr marL="449263">
              <a:lnSpc>
                <a:spcPct val="150000"/>
              </a:lnSpc>
            </a:pPr>
            <a:br>
              <a:rPr lang="en-ID" sz="1200" dirty="0">
                <a:solidFill>
                  <a:schemeClr val="tx1"/>
                </a:solidFill>
                <a:effectLst/>
                <a:latin typeface=""/>
              </a:rPr>
            </a:br>
            <a:r>
              <a:rPr lang="en-ID" sz="1200" dirty="0">
                <a:solidFill>
                  <a:schemeClr val="tx1"/>
                </a:solidFill>
                <a:latin typeface=""/>
              </a:rPr>
              <a:t>Jadi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dalam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hal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ini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kesalahan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dalam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pembulatan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"/>
              </a:rPr>
              <a:t>sebesar</a:t>
            </a:r>
            <a:r>
              <a:rPr lang="en-ID" sz="1200" dirty="0">
                <a:solidFill>
                  <a:schemeClr val="tx1"/>
                </a:solidFill>
                <a:latin typeface=""/>
              </a:rPr>
              <a:t>:</a:t>
            </a:r>
            <a:br>
              <a:rPr lang="en-ID" sz="1200" dirty="0">
                <a:solidFill>
                  <a:schemeClr val="tx1"/>
                </a:solidFill>
                <a:effectLst/>
                <a:latin typeface=""/>
              </a:rPr>
            </a:br>
            <a:r>
              <a:rPr lang="en-ID" sz="1200" b="1" dirty="0" err="1">
                <a:solidFill>
                  <a:schemeClr val="tx1"/>
                </a:solidFill>
                <a:effectLst/>
                <a:latin typeface=""/>
              </a:rPr>
              <a:t>Ea</a:t>
            </a:r>
            <a:r>
              <a:rPr lang="en-ID" sz="1200" dirty="0">
                <a:solidFill>
                  <a:schemeClr val="tx1"/>
                </a:solidFill>
                <a:effectLst/>
                <a:latin typeface=""/>
              </a:rPr>
              <a:t> = XT - XA = | 2.01536-2.0154 |</a:t>
            </a:r>
          </a:p>
          <a:p>
            <a:pPr marL="449263" indent="0" algn="l">
              <a:lnSpc>
                <a:spcPct val="150000"/>
              </a:lnSpc>
            </a:pPr>
            <a:r>
              <a:rPr lang="en-ID" sz="1200" dirty="0">
                <a:solidFill>
                  <a:schemeClr val="tx1"/>
                </a:solidFill>
                <a:effectLst/>
                <a:latin typeface=""/>
              </a:rPr>
              <a:t>     = 0.00004</a:t>
            </a:r>
          </a:p>
        </p:txBody>
      </p:sp>
    </p:spTree>
    <p:extLst>
      <p:ext uri="{BB962C8B-B14F-4D97-AF65-F5344CB8AC3E}">
        <p14:creationId xmlns:p14="http://schemas.microsoft.com/office/powerpoint/2010/main" val="50671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62772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of Rounding Error</a:t>
            </a:r>
            <a:endParaRPr dirty="0"/>
          </a:p>
        </p:txBody>
      </p:sp>
      <p:sp>
        <p:nvSpPr>
          <p:cNvPr id="1439" name="Google Shape;1439;p56"/>
          <p:cNvSpPr txBox="1">
            <a:spLocks noGrp="1"/>
          </p:cNvSpPr>
          <p:nvPr>
            <p:ph type="subTitle" idx="1"/>
          </p:nvPr>
        </p:nvSpPr>
        <p:spPr>
          <a:xfrm>
            <a:off x="731396" y="1046747"/>
            <a:ext cx="7681208" cy="31689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fontAlgn="base"/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Rumus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kuadrat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direpresentasikan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sebagai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berikut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:</a:t>
            </a:r>
            <a:endParaRPr lang="en-ID" b="0" i="0" u="none" strike="noStrike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pPr algn="l" fontAlgn="base"/>
            <a:endParaRPr lang="en-ID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pPr algn="l" fontAlgn="base"/>
            <a:endParaRPr lang="en-ID" b="0" i="0" u="none" strike="noStrike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pPr algn="l" fontAlgn="base"/>
            <a:endParaRPr lang="en-ID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pPr algn="l" fontAlgn="base"/>
            <a:endParaRPr lang="en-ID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pPr marL="142875" indent="-3175" algn="l" fontAlgn="base"/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Menggunakan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b="1" dirty="0">
                <a:solidFill>
                  <a:srgbClr val="444444"/>
                </a:solidFill>
                <a:latin typeface="Open Sans" panose="020B0606030504020204" pitchFamily="34" charset="0"/>
              </a:rPr>
              <a:t>a = 0,2, b = – 47,91, c = 6 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dan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jika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kita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melakukan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pembulatan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ke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b="1" dirty="0">
                <a:solidFill>
                  <a:srgbClr val="444444"/>
                </a:solidFill>
                <a:latin typeface="Open Sans" panose="020B0606030504020204" pitchFamily="34" charset="0"/>
              </a:rPr>
              <a:t>2 </a:t>
            </a:r>
            <a:r>
              <a:rPr lang="en-ID" b="1" dirty="0" err="1">
                <a:solidFill>
                  <a:srgbClr val="444444"/>
                </a:solidFill>
                <a:latin typeface="Open Sans" panose="020B0606030504020204" pitchFamily="34" charset="0"/>
              </a:rPr>
              <a:t>tempat</a:t>
            </a:r>
            <a:r>
              <a:rPr lang="en-ID" b="1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b="1" dirty="0" err="1">
                <a:solidFill>
                  <a:srgbClr val="444444"/>
                </a:solidFill>
                <a:latin typeface="Open Sans" panose="020B0606030504020204" pitchFamily="34" charset="0"/>
              </a:rPr>
              <a:t>desimal</a:t>
            </a:r>
            <a:r>
              <a:rPr lang="en-ID" b="1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pada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setiap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langkah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perantara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:</a:t>
            </a:r>
            <a:endParaRPr lang="en-ID" b="0" i="0" u="none" strike="noStrike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1026" name="Picture 2" descr="figure2">
            <a:extLst>
              <a:ext uri="{FF2B5EF4-FFF2-40B4-BE49-F238E27FC236}">
                <a16:creationId xmlns:a16="http://schemas.microsoft.com/office/drawing/2014/main" id="{F2C860AF-AAAA-9668-9F98-0BD0ADC12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45" y="1462838"/>
            <a:ext cx="22987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re3">
            <a:extLst>
              <a:ext uri="{FF2B5EF4-FFF2-40B4-BE49-F238E27FC236}">
                <a16:creationId xmlns:a16="http://schemas.microsoft.com/office/drawing/2014/main" id="{269A0372-23FD-F1D1-2602-D06605DD9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45" y="2956762"/>
            <a:ext cx="5634981" cy="1376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29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62772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of Rounding Error (cont.)</a:t>
            </a:r>
            <a:endParaRPr dirty="0"/>
          </a:p>
        </p:txBody>
      </p:sp>
      <p:sp>
        <p:nvSpPr>
          <p:cNvPr id="1439" name="Google Shape;1439;p56"/>
          <p:cNvSpPr txBox="1">
            <a:spLocks noGrp="1"/>
          </p:cNvSpPr>
          <p:nvPr>
            <p:ph type="subTitle" idx="1"/>
          </p:nvPr>
        </p:nvSpPr>
        <p:spPr>
          <a:xfrm>
            <a:off x="731396" y="1046747"/>
            <a:ext cx="7681208" cy="31689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fontAlgn="base"/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Kesalahan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antara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perkiraan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kita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dan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nilai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sebenarnya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dapat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ditemukan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sebagai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berikut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:</a:t>
            </a:r>
          </a:p>
          <a:p>
            <a:pPr algn="l" fontAlgn="base"/>
            <a:endParaRPr lang="en-ID" b="0" i="0" u="none" strike="noStrike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pPr algn="l" fontAlgn="base"/>
            <a:endParaRPr lang="en-ID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pPr algn="l" fontAlgn="base"/>
            <a:endParaRPr lang="en-ID" b="0" i="0" u="none" strike="noStrike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pPr algn="l" fontAlgn="base"/>
            <a:endParaRPr lang="en-ID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pPr algn="l" fontAlgn="base"/>
            <a:endParaRPr lang="en-ID" b="0" i="0" u="none" strike="noStrike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pPr algn="l" fontAlgn="base"/>
            <a:endParaRPr lang="en-ID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pPr marL="142875" indent="-3175" algn="l" fontAlgn="base"/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Seperti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yang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dapat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dilihat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,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akar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yang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lebih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kecil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memiliki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kesalahan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yang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lebih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besar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yang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terkait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dengannya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karena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penyimpangan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akan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lebih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jelas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dengan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angka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yang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lebih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kecil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daripada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angka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yang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lebih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en-ID" dirty="0" err="1">
                <a:solidFill>
                  <a:srgbClr val="444444"/>
                </a:solidFill>
                <a:latin typeface="Open Sans" panose="020B0606030504020204" pitchFamily="34" charset="0"/>
              </a:rPr>
              <a:t>besar</a:t>
            </a:r>
            <a:r>
              <a:rPr lang="en-ID" dirty="0">
                <a:solidFill>
                  <a:srgbClr val="444444"/>
                </a:solidFill>
                <a:latin typeface="Open Sans" panose="020B0606030504020204" pitchFamily="34" charset="0"/>
              </a:rPr>
              <a:t>.</a:t>
            </a:r>
            <a:endParaRPr lang="en-ID" b="0" i="0" u="none" strike="noStrike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3074" name="Picture 2" descr="Figure4">
            <a:extLst>
              <a:ext uri="{FF2B5EF4-FFF2-40B4-BE49-F238E27FC236}">
                <a16:creationId xmlns:a16="http://schemas.microsoft.com/office/drawing/2014/main" id="{DFEC340D-8633-F518-EDBC-9C68F9638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00" y="1591019"/>
            <a:ext cx="5289550" cy="114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85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1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Tugas</a:t>
            </a:r>
            <a:endParaRPr dirty="0"/>
          </a:p>
        </p:txBody>
      </p:sp>
      <p:sp>
        <p:nvSpPr>
          <p:cNvPr id="1352" name="Google Shape;1352;p51"/>
          <p:cNvSpPr txBox="1">
            <a:spLocks noGrp="1"/>
          </p:cNvSpPr>
          <p:nvPr>
            <p:ph type="subTitle" idx="1"/>
          </p:nvPr>
        </p:nvSpPr>
        <p:spPr>
          <a:xfrm>
            <a:off x="772885" y="1321432"/>
            <a:ext cx="7870183" cy="3222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ID" dirty="0" err="1"/>
              <a:t>Berikan</a:t>
            </a:r>
            <a:r>
              <a:rPr lang="en-ID" dirty="0"/>
              <a:t> </a:t>
            </a:r>
            <a:r>
              <a:rPr lang="en-ID" b="1" dirty="0"/>
              <a:t>3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proses </a:t>
            </a:r>
            <a:r>
              <a:rPr lang="en-ID" b="1" dirty="0" err="1"/>
              <a:t>pemotongan</a:t>
            </a:r>
            <a:r>
              <a:rPr lang="en-ID" dirty="0"/>
              <a:t>!
</a:t>
            </a:r>
            <a:r>
              <a:rPr lang="en-ID" dirty="0" err="1"/>
              <a:t>Berikan</a:t>
            </a:r>
            <a:r>
              <a:rPr lang="en-ID" dirty="0"/>
              <a:t> </a:t>
            </a:r>
            <a:r>
              <a:rPr lang="en-ID" b="1" dirty="0"/>
              <a:t>3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proses </a:t>
            </a:r>
            <a:r>
              <a:rPr lang="en-ID" b="1" dirty="0" err="1"/>
              <a:t>pembulatan</a:t>
            </a:r>
            <a:r>
              <a:rPr lang="en-ID" dirty="0"/>
              <a:t>!
</a:t>
            </a:r>
            <a:r>
              <a:rPr lang="en-ID" dirty="0" err="1"/>
              <a:t>Diketahui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perhitungan</a:t>
            </a:r>
            <a:r>
              <a:rPr lang="en-ID" dirty="0"/>
              <a:t> </a:t>
            </a:r>
            <a:r>
              <a:rPr lang="en-ID" dirty="0" err="1"/>
              <a:t>pasti</a:t>
            </a:r>
            <a:r>
              <a:rPr lang="en-ID" dirty="0"/>
              <a:t> </a:t>
            </a:r>
            <a:r>
              <a:rPr lang="en-ID" dirty="0" err="1"/>
              <a:t>luas</a:t>
            </a:r>
            <a:r>
              <a:rPr lang="en-ID" dirty="0"/>
              <a:t> </a:t>
            </a:r>
            <a:r>
              <a:rPr lang="en-ID" dirty="0" err="1"/>
              <a:t>bangunan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403.1476 m</a:t>
            </a:r>
            <a:r>
              <a:rPr lang="en-ID" baseline="30000" dirty="0"/>
              <a:t>2</a:t>
            </a:r>
            <a:r>
              <a:rPr lang="en-ID" dirty="0"/>
              <a:t>,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estimasi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403 m</a:t>
            </a:r>
            <a:r>
              <a:rPr lang="en-ID" baseline="30000" dirty="0"/>
              <a:t>2</a:t>
            </a:r>
            <a:r>
              <a:rPr lang="en-ID" dirty="0"/>
              <a:t>. </a:t>
            </a:r>
            <a:r>
              <a:rPr lang="en-ID" dirty="0" err="1"/>
              <a:t>Hitung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absolut</a:t>
            </a:r>
            <a:r>
              <a:rPr lang="en-ID" dirty="0"/>
              <a:t>,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, dan </a:t>
            </a:r>
            <a:r>
              <a:rPr lang="en-ID" dirty="0" err="1"/>
              <a:t>persentase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!
</a:t>
            </a:r>
            <a:r>
              <a:rPr lang="en-ID" dirty="0" err="1"/>
              <a:t>Pengukuran</a:t>
            </a:r>
            <a:r>
              <a:rPr lang="en-ID" dirty="0"/>
              <a:t> </a:t>
            </a:r>
            <a:r>
              <a:rPr lang="en-ID" dirty="0" err="1"/>
              <a:t>Jembatan</a:t>
            </a:r>
            <a:r>
              <a:rPr lang="en-ID" dirty="0"/>
              <a:t> dan </a:t>
            </a:r>
            <a:r>
              <a:rPr lang="en-ID" dirty="0" err="1"/>
              <a:t>pensil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 9999 cm dan 9 cm. Ketika </a:t>
            </a:r>
            <a:r>
              <a:rPr lang="en-ID" dirty="0" err="1"/>
              <a:t>panjang</a:t>
            </a:r>
            <a:r>
              <a:rPr lang="en-ID" dirty="0"/>
              <a:t> </a:t>
            </a:r>
            <a:r>
              <a:rPr lang="en-ID" dirty="0" err="1"/>
              <a:t>sebenarnya</a:t>
            </a:r>
            <a:r>
              <a:rPr lang="en-ID" dirty="0"/>
              <a:t> (</a:t>
            </a:r>
            <a:r>
              <a:rPr lang="en-ID" dirty="0" err="1"/>
              <a:t>tepat</a:t>
            </a:r>
            <a:r>
              <a:rPr lang="en-ID" dirty="0"/>
              <a:t>) masing-masing </a:t>
            </a:r>
            <a:r>
              <a:rPr lang="en-ID" dirty="0" err="1"/>
              <a:t>adalah</a:t>
            </a:r>
            <a:r>
              <a:rPr lang="en-ID" dirty="0"/>
              <a:t> 10000 cm dan 10 cm. </a:t>
            </a:r>
            <a:r>
              <a:rPr lang="en-ID" dirty="0" err="1"/>
              <a:t>Hitung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absolut</a:t>
            </a:r>
            <a:r>
              <a:rPr lang="en-ID" dirty="0"/>
              <a:t>,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, dan </a:t>
            </a:r>
            <a:r>
              <a:rPr lang="en-ID" dirty="0" err="1"/>
              <a:t>persentase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yang </a:t>
            </a:r>
            <a:r>
              <a:rPr lang="en-ID" dirty="0" err="1"/>
              <a:t>disebutkan</a:t>
            </a:r>
            <a:r>
              <a:rPr lang="en-ID" dirty="0"/>
              <a:t>!
</a:t>
            </a:r>
            <a:r>
              <a:rPr lang="en-ID" dirty="0" err="1"/>
              <a:t>Berikan</a:t>
            </a:r>
            <a:r>
              <a:rPr lang="en-ID" dirty="0"/>
              <a:t> masing-masing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b="1" dirty="0"/>
              <a:t>2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angka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b="1" dirty="0"/>
              <a:t>4 dan 5 </a:t>
            </a:r>
            <a:r>
              <a:rPr lang="en-ID" b="1" dirty="0" err="1"/>
              <a:t>angka</a:t>
            </a:r>
            <a:r>
              <a:rPr lang="en-ID" b="1" dirty="0"/>
              <a:t> </a:t>
            </a:r>
            <a:r>
              <a:rPr lang="en-ID" b="1" dirty="0" err="1"/>
              <a:t>penting</a:t>
            </a:r>
            <a:r>
              <a:rPr lang="en-ID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54734212"/>
      </p:ext>
    </p:extLst>
  </p:cSld>
  <p:clrMapOvr>
    <a:masterClrMapping/>
  </p:clrMapOvr>
</p:sld>
</file>

<file path=ppt/theme/theme1.xml><?xml version="1.0" encoding="utf-8"?>
<a:theme xmlns:a="http://schemas.openxmlformats.org/drawingml/2006/main" name="Topology - Master of Science in Mathematics by Slidesgo">
  <a:themeElements>
    <a:clrScheme name="Simple Light">
      <a:dk1>
        <a:srgbClr val="233251"/>
      </a:dk1>
      <a:lt1>
        <a:srgbClr val="34579E"/>
      </a:lt1>
      <a:dk2>
        <a:srgbClr val="36867D"/>
      </a:dk2>
      <a:lt2>
        <a:srgbClr val="70A19C"/>
      </a:lt2>
      <a:accent1>
        <a:srgbClr val="F1F1F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332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875</Words>
  <Application>Microsoft Macintosh PowerPoint</Application>
  <PresentationFormat>On-screen Show (16:9)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Open Sans</vt:lpstr>
      <vt:lpstr>Nunito</vt:lpstr>
      <vt:lpstr>Bebas Neue</vt:lpstr>
      <vt:lpstr>Roboto</vt:lpstr>
      <vt:lpstr>Poppins Medium</vt:lpstr>
      <vt:lpstr>-webkit-standard</vt:lpstr>
      <vt:lpstr>Wingdings</vt:lpstr>
      <vt:lpstr>Arial Unicode MS</vt:lpstr>
      <vt:lpstr>Arial</vt:lpstr>
      <vt:lpstr>Poppins SemiBold</vt:lpstr>
      <vt:lpstr>Topology - Master of Science in Mathematics by Slidesgo</vt:lpstr>
      <vt:lpstr>Galat pada Metode Numerik</vt:lpstr>
      <vt:lpstr>Definisi Galat</vt:lpstr>
      <vt:lpstr>Absolute and Relative Errors</vt:lpstr>
      <vt:lpstr>Truncation Error (Pemotongan)</vt:lpstr>
      <vt:lpstr>Rounding Error (Pembulatan)</vt:lpstr>
      <vt:lpstr>Example of Rounding Error</vt:lpstr>
      <vt:lpstr>Example of Rounding Error (cont.)</vt:lpstr>
      <vt:lpstr>Tugas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Topology - Master of Science in Mathematics</dc:title>
  <cp:lastModifiedBy>Adevian Fairuz</cp:lastModifiedBy>
  <cp:revision>46</cp:revision>
  <dcterms:modified xsi:type="dcterms:W3CDTF">2025-09-02T03:57:26Z</dcterms:modified>
</cp:coreProperties>
</file>